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5"/>
    </p:embeddedFont>
    <p:embeddedFont>
      <p:font typeface="Cambria Bold" charset="1" panose="02040803050406030204"/>
      <p:regular r:id="rId16"/>
    </p:embeddedFont>
    <p:embeddedFont>
      <p:font typeface="Calibri (MS) Italics" charset="1" panose="020F05020202040A0204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250475" y="-1845697"/>
            <a:ext cx="5567067" cy="4824412"/>
            <a:chOff x="0" y="0"/>
            <a:chExt cx="7422756" cy="643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7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5788211" y="2525554"/>
            <a:ext cx="5567067" cy="4824412"/>
            <a:chOff x="0" y="0"/>
            <a:chExt cx="7422756" cy="6432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solidFill>
              <a:srgbClr val="026855">
                <a:alpha val="5882"/>
              </a:srgbClr>
            </a:solid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3250475" y="6896805"/>
            <a:ext cx="5567067" cy="4824412"/>
            <a:chOff x="0" y="0"/>
            <a:chExt cx="7422756" cy="6432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7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9920040" y="4766310"/>
            <a:ext cx="871080" cy="754380"/>
            <a:chOff x="0" y="0"/>
            <a:chExt cx="11614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1415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61415">
                  <a:moveTo>
                    <a:pt x="0" y="502920"/>
                  </a:moveTo>
                  <a:lnTo>
                    <a:pt x="251460" y="0"/>
                  </a:lnTo>
                  <a:lnTo>
                    <a:pt x="909955" y="0"/>
                  </a:lnTo>
                  <a:lnTo>
                    <a:pt x="1161415" y="502920"/>
                  </a:lnTo>
                  <a:lnTo>
                    <a:pt x="909955" y="1005840"/>
                  </a:lnTo>
                  <a:lnTo>
                    <a:pt x="251460" y="1005840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6274377" y="2592324"/>
            <a:ext cx="506816" cy="438912"/>
            <a:chOff x="0" y="0"/>
            <a:chExt cx="67575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5767" cy="585216"/>
            </a:xfrm>
            <a:custGeom>
              <a:avLst/>
              <a:gdLst/>
              <a:ahLst/>
              <a:cxnLst/>
              <a:rect r="r" b="b" t="t" l="l"/>
              <a:pathLst>
                <a:path h="585216" w="675767">
                  <a:moveTo>
                    <a:pt x="0" y="292608"/>
                  </a:moveTo>
                  <a:lnTo>
                    <a:pt x="146304" y="0"/>
                  </a:lnTo>
                  <a:lnTo>
                    <a:pt x="529463" y="0"/>
                  </a:lnTo>
                  <a:lnTo>
                    <a:pt x="675767" y="292608"/>
                  </a:lnTo>
                  <a:lnTo>
                    <a:pt x="529463" y="585216"/>
                  </a:lnTo>
                  <a:lnTo>
                    <a:pt x="146304" y="585216"/>
                  </a:lnTo>
                  <a:close/>
                </a:path>
              </a:pathLst>
            </a:custGeom>
            <a:solidFill>
              <a:srgbClr val="7AC143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0303088" y="2160270"/>
            <a:ext cx="6414335" cy="5554980"/>
            <a:chOff x="0" y="0"/>
            <a:chExt cx="8552447" cy="7406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52434" cy="7406640"/>
            </a:xfrm>
            <a:custGeom>
              <a:avLst/>
              <a:gdLst/>
              <a:ahLst/>
              <a:cxnLst/>
              <a:rect r="r" b="b" t="t" l="l"/>
              <a:pathLst>
                <a:path h="7406640" w="8552434">
                  <a:moveTo>
                    <a:pt x="0" y="3703320"/>
                  </a:moveTo>
                  <a:lnTo>
                    <a:pt x="1851660" y="0"/>
                  </a:lnTo>
                  <a:lnTo>
                    <a:pt x="6700774" y="0"/>
                  </a:lnTo>
                  <a:lnTo>
                    <a:pt x="8552434" y="3703320"/>
                  </a:lnTo>
                  <a:lnTo>
                    <a:pt x="6700774" y="7406640"/>
                  </a:lnTo>
                  <a:lnTo>
                    <a:pt x="1851660" y="7406640"/>
                  </a:lnTo>
                  <a:close/>
                </a:path>
              </a:pathLst>
            </a:custGeom>
            <a:solidFill>
              <a:srgbClr val="026855">
                <a:alpha val="2000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0119255" y="7186612"/>
            <a:ext cx="1295600" cy="1125855"/>
            <a:chOff x="0" y="0"/>
            <a:chExt cx="1727467" cy="1501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7454" cy="1501140"/>
            </a:xfrm>
            <a:custGeom>
              <a:avLst/>
              <a:gdLst/>
              <a:ahLst/>
              <a:cxnLst/>
              <a:rect r="r" b="b" t="t" l="l"/>
              <a:pathLst>
                <a:path h="1501140" w="1727454">
                  <a:moveTo>
                    <a:pt x="0" y="750570"/>
                  </a:moveTo>
                  <a:lnTo>
                    <a:pt x="375285" y="0"/>
                  </a:lnTo>
                  <a:lnTo>
                    <a:pt x="1352169" y="0"/>
                  </a:lnTo>
                  <a:lnTo>
                    <a:pt x="1727454" y="750570"/>
                  </a:lnTo>
                  <a:lnTo>
                    <a:pt x="1352169" y="1501140"/>
                  </a:lnTo>
                  <a:lnTo>
                    <a:pt x="375285" y="1501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494" t="0" r="-61494" b="0"/>
              </a:stretch>
            </a:blipFill>
            <a:ln w="28575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10710062" y="2508885"/>
            <a:ext cx="5600405" cy="4857750"/>
            <a:chOff x="0" y="0"/>
            <a:chExt cx="7467206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67219" cy="6477000"/>
            </a:xfrm>
            <a:custGeom>
              <a:avLst/>
              <a:gdLst/>
              <a:ahLst/>
              <a:cxnLst/>
              <a:rect r="r" b="b" t="t" l="l"/>
              <a:pathLst>
                <a:path h="6477000" w="7467219">
                  <a:moveTo>
                    <a:pt x="0" y="3238500"/>
                  </a:moveTo>
                  <a:lnTo>
                    <a:pt x="1619250" y="0"/>
                  </a:lnTo>
                  <a:lnTo>
                    <a:pt x="5847969" y="0"/>
                  </a:lnTo>
                  <a:lnTo>
                    <a:pt x="7467219" y="3238500"/>
                  </a:lnTo>
                  <a:lnTo>
                    <a:pt x="5847969" y="6477000"/>
                  </a:lnTo>
                  <a:lnTo>
                    <a:pt x="1619250" y="6477000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166149" y="3188970"/>
            <a:ext cx="2688222" cy="3497580"/>
            <a:chOff x="0" y="0"/>
            <a:chExt cx="3584296" cy="4663440"/>
          </a:xfrm>
        </p:grpSpPr>
        <p:sp>
          <p:nvSpPr>
            <p:cNvPr name="Freeform 19" id="19" descr="Genesis logo"/>
            <p:cNvSpPr/>
            <p:nvPr/>
          </p:nvSpPr>
          <p:spPr>
            <a:xfrm flipH="false" flipV="false" rot="0">
              <a:off x="0" y="0"/>
              <a:ext cx="3584321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84321">
                  <a:moveTo>
                    <a:pt x="0" y="0"/>
                  </a:moveTo>
                  <a:lnTo>
                    <a:pt x="3584321" y="0"/>
                  </a:lnTo>
                  <a:lnTo>
                    <a:pt x="3584321" y="4663440"/>
                  </a:lnTo>
                  <a:lnTo>
                    <a:pt x="0" y="466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754380"/>
            <a:ext cx="7955280" cy="480060"/>
            <a:chOff x="0" y="0"/>
            <a:chExt cx="1060704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070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6070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C1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PRE-IDEATHON TEMPLATE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22960" y="1379220"/>
            <a:ext cx="850392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b="true" sz="8100" spc="299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GENESIS</a:t>
            </a:r>
          </a:p>
          <a:p>
            <a:pPr algn="l">
              <a:lnSpc>
                <a:spcPts val="8748"/>
              </a:lnSpc>
            </a:pPr>
            <a:r>
              <a:rPr lang="en-US" b="true" sz="8100" spc="299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IDEATHON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1054" y="3897154"/>
            <a:ext cx="3178492" cy="599884"/>
            <a:chOff x="0" y="0"/>
            <a:chExt cx="4237990" cy="7998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7990" cy="799846"/>
            </a:xfrm>
            <a:custGeom>
              <a:avLst/>
              <a:gdLst/>
              <a:ahLst/>
              <a:cxnLst/>
              <a:rect r="r" b="b" t="t" l="l"/>
              <a:pathLst>
                <a:path h="799846" w="4237990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3838067" y="0"/>
                  </a:lnTo>
                  <a:cubicBezTo>
                    <a:pt x="4058920" y="0"/>
                    <a:pt x="4237990" y="179070"/>
                    <a:pt x="4237990" y="399923"/>
                  </a:cubicBezTo>
                  <a:cubicBezTo>
                    <a:pt x="4237990" y="620776"/>
                    <a:pt x="4058920" y="799846"/>
                    <a:pt x="3838067" y="799846"/>
                  </a:cubicBezTo>
                  <a:lnTo>
                    <a:pt x="399923" y="799846"/>
                  </a:lnTo>
                  <a:cubicBezTo>
                    <a:pt x="179070" y="799846"/>
                    <a:pt x="0" y="620776"/>
                    <a:pt x="0" y="39992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41" r="0" b="-53241"/>
              </a:stretch>
            </a:blipFill>
            <a:ln w="23812" cap="sq">
              <a:solidFill>
                <a:srgbClr val="7AC143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237990" cy="84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b="true" sz="1950" spc="4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&amp; DOMAIN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4663440"/>
            <a:ext cx="8503920" cy="548640"/>
            <a:chOff x="0" y="0"/>
            <a:chExt cx="113385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D3E6D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Introduce your team and the domain you have chosen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22960" y="4981384"/>
            <a:ext cx="9052560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–Byte Force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Members –Kaushika R[CB.SC.U4CSE25217], Kavin M K [CB.EN.U4CCE25027],Tharshun N M[CB.EN.U4CCE25054],Navya Ganesh Kavitha[CB.EN.U4CCE25032].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Selected Domain –7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–Trustlens-An AI-powered physical-world cybersecurity platform that verifies digital interfaces before user interaction.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DOMAIN PROBLEM IN OUR WORDS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Byte Force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6978" y="2304212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20240" y="157734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 the problem in your domain simply, in your own words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748876" y="2247062"/>
            <a:ext cx="15636240" cy="63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What exactly needs to be solved?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Physical-to-digital interfaces such as QR codes, NFC tags, payment stickers and smart-device interfaces are increasingly used to access digital services.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These interfaces can be replaced, overlaid, redirected or tampered with while still appearing legitimate to users.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security solutions mainly check the digital destination after an interaction begins; they do not reliably verify whether the physical interface itself is authentic.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problem is to establish trust before interaction by checking:</a:t>
            </a:r>
          </a:p>
          <a:p>
            <a:pPr algn="l" marL="380048" indent="-190024" lvl="1">
              <a:lnSpc>
                <a:spcPts val="2520"/>
              </a:lnSpc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 integrity – Is the interface altered or replaced?</a:t>
            </a:r>
          </a:p>
          <a:p>
            <a:pPr algn="l" marL="380048" indent="-190024" lvl="1">
              <a:lnSpc>
                <a:spcPts val="2520"/>
              </a:lnSpc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destination – Where does it lead?</a:t>
            </a:r>
          </a:p>
          <a:p>
            <a:pPr algn="l" marL="380048" indent="-190024" lvl="1">
              <a:lnSpc>
                <a:spcPts val="2520"/>
              </a:lnSpc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 – Does the destination match the location/purpose?</a:t>
            </a:r>
          </a:p>
          <a:p>
            <a:pPr algn="l" marL="380048" indent="-190024" lvl="1">
              <a:lnSpc>
                <a:spcPts val="2520"/>
              </a:lnSpc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 identity – Has this interface changed from its previously verified state?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Why is it important right now?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 malicious QR/NFC interface can redirect users to phishing, fake-login or fraudulent payment pages.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Users naturally trust interfaces placed in familiar locations such as colleges, restaurants, parking areas, public services and payment points.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QR and NFC-based interactions are becoming increasingly common, creating a growing physical-to-digital cybersecurity gap.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Users need a way to verify the interface before trusting the digital interaction, rather than discovering the threat only after reaching the destination.</a:t>
            </a:r>
          </a:p>
          <a:p>
            <a:pPr algn="l" marL="488632" indent="-244316" lvl="1">
              <a:lnSpc>
                <a:spcPts val="3240"/>
              </a:lnSpc>
            </a:pPr>
          </a:p>
          <a:p>
            <a:pPr algn="l" marL="380048" indent="-190024" lvl="1">
              <a:lnSpc>
                <a:spcPts val="2520"/>
              </a:lnSpc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WHO IS AFFECTED?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02536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Byte Force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6978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users, stakeholders, beneficiaries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48283" y="2639416"/>
            <a:ext cx="15636240" cy="799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--&gt;Primary Users or Target group: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Everyday smartphone users who scan QR codes or use NFC interfaces for payments, menus, parking, tickets, forms and other services.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 and campus users interacting with QR/NFC interfaces on college notices, cafeterias, events and facilities.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Customers and visitors using physical digital interfaces in restaurants, shops, parking areas and public spaces</a:t>
            </a:r>
          </a:p>
          <a:p>
            <a:pPr algn="l">
              <a:lnSpc>
                <a:spcPts val="1919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--&gt;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Secondary stakeholders</a:t>
            </a: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 :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Universities &amp; institutions that deploy QR/NFC interfaces across campuses.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Restaurants, retailers &amp; service providers using QR-based menus, payments and customer services.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Organizations managing physical digital infrastructure such as parking, EV charging and IoT interfaces.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Cybersecurity / IT teams responsible for protecting users and organizational digital touchpoints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--&gt;Who benefits if the problem is solved? :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Users: Can verify an interface before being redirected to a potentially malicious destination.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Organizations: Can detect unauthorized replacement or tampering of their registered interfaces.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teams: Gain visibility into changes between a trusted physical interface and its current state.</a:t>
            </a:r>
          </a:p>
          <a:p>
            <a:pPr algn="l" marL="416243" indent="-208121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Service providers: Reduce the risk of phishing, payment fraud and brand impersonation through physical interfaces.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TrustLens protects both the person interacting with a physical digital interface and the organization that owns it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CURRENT SITUATION &amp; CONTEXT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Byte Force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scenario, background and how things work today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28700" y="2878455"/>
            <a:ext cx="15636240" cy="835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⟶ 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scenario and background :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Physical-to-digital interactions are now common through QR codes, NFC tags and other scannable interfaces.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generally assume that an interface placed in a trusted physical location is genuine.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QR/security scanners primarily evaluate the digital destination, rather than verifying the authenticity of the physical interface itself.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malicious actor can replace or overlay a legitimate interface without making the change obvious to the user.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⟶ Relevant data or facts (if available) 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Physical attack surface : QR stickers can be placed over legitimate QR codes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attack surface : The replacement can redirect users to phishing or fraudulent destinations.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Trust problem : A familiar physical location can create a false sense of legitimacy.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Missing layer : Traditional cybersecurity focuses mainly on the digital side, leaving the physical → digital boundary less      protected.</a:t>
            </a:r>
          </a:p>
          <a:p>
            <a:pPr algn="l">
              <a:lnSpc>
                <a:spcPts val="2700"/>
              </a:lnSpc>
            </a:pPr>
          </a:p>
          <a:p>
            <a:pPr algn="just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Current workflow, step by step :</a:t>
            </a: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encounters a physical interface ⟶ User scans/taps it ⟶ Device follows the digital destination ⟶ User encounters a physical interface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just">
              <a:lnSpc>
                <a:spcPts val="3240"/>
              </a:lnSpc>
            </a:pPr>
          </a:p>
          <a:p>
            <a:pPr algn="just">
              <a:lnSpc>
                <a:spcPts val="3240"/>
              </a:lnSpc>
            </a:pP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CHALLENGES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Byte Force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 difficulties, bottlenecks, root causes and consequences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0120" y="2937294"/>
            <a:ext cx="6094851" cy="654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20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Main difficulties &amp; bottlenecks</a:t>
            </a:r>
          </a:p>
          <a:p>
            <a:pPr algn="l" marL="423309" indent="-211655" lvl="1">
              <a:lnSpc>
                <a:spcPts val="2352"/>
              </a:lnSpc>
              <a:buFont typeface="Arial"/>
              <a:buChar char="•"/>
            </a:pPr>
            <a:r>
              <a:rPr lang="en-US" sz="19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 tampering is difficult to verify--A malicious QR/NFC interface can visually resemble the legitimate one, making physical replacement or overlay difficult to detect.</a:t>
            </a:r>
          </a:p>
          <a:p>
            <a:pPr algn="l" marL="423309" indent="-211655" lvl="1">
              <a:lnSpc>
                <a:spcPts val="2352"/>
              </a:lnSpc>
              <a:buFont typeface="Arial"/>
              <a:buChar char="•"/>
            </a:pPr>
            <a:r>
              <a:rPr lang="en-US" sz="19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legitimate-looking interface can lead to a malicious destination--The physical appearance alone cannot establish trust; the actual URL, domain and destination must also be analyzed.</a:t>
            </a:r>
          </a:p>
          <a:p>
            <a:pPr algn="l" marL="423309" indent="-211655" lvl="1">
              <a:lnSpc>
                <a:spcPts val="2352"/>
              </a:lnSpc>
              <a:buFont typeface="Arial"/>
              <a:buChar char="•"/>
            </a:pPr>
            <a:r>
              <a:rPr lang="en-US" sz="19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 matters--A destination that may be harmless in one situation can be suspicious in another. For example, a cafeteria menu interface redirecting to an unrelated payment domain is a potential warning.</a:t>
            </a:r>
          </a:p>
          <a:p>
            <a:pPr algn="l" marL="423309" indent="-211655" lvl="1">
              <a:lnSpc>
                <a:spcPts val="2352"/>
              </a:lnSpc>
              <a:buFont typeface="Arial"/>
              <a:buChar char="•"/>
            </a:pPr>
            <a:r>
              <a:rPr lang="en-US" sz="19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universal “original” reference exists--To detect changes, the system needs a trusted baseline — such as a registered interface, reference image, expected destination and location.</a:t>
            </a:r>
          </a:p>
          <a:p>
            <a:pPr algn="l" marL="423309" indent="-211655" lvl="1">
              <a:lnSpc>
                <a:spcPts val="2352"/>
              </a:lnSpc>
              <a:spcBef>
                <a:spcPct val="0"/>
              </a:spcBef>
              <a:buFont typeface="Arial"/>
              <a:buChar char="•"/>
            </a:pPr>
            <a:r>
              <a:rPr lang="en-US" sz="19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signals must be combined without false alarms--Physical appearance, URL intelligence, location, history and interface type can each provide incomplete evidence. The challenge is combining them into an explainable risk assessment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92963" y="2927769"/>
            <a:ext cx="3499777" cy="633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5"/>
              </a:lnSpc>
            </a:pPr>
            <a:r>
              <a:rPr lang="en-US" sz="217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Root causes</a:t>
            </a:r>
          </a:p>
          <a:p>
            <a:pPr algn="l" marL="470641" indent="-235321" lvl="1">
              <a:lnSpc>
                <a:spcPts val="2615"/>
              </a:lnSpc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 interfaces are treated as trusted objects, even though they can be physically altered.</a:t>
            </a:r>
          </a:p>
          <a:p>
            <a:pPr algn="l" marL="470641" indent="-235321" lvl="1">
              <a:lnSpc>
                <a:spcPts val="2615"/>
              </a:lnSpc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Traditional cybersecurity focuses mainly on the digital side after interaction.</a:t>
            </a:r>
          </a:p>
          <a:p>
            <a:pPr algn="l" marL="470641" indent="-235321" lvl="1">
              <a:lnSpc>
                <a:spcPts val="2615"/>
              </a:lnSpc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generally have no way to compare the current interface against a previously verified identity.</a:t>
            </a:r>
          </a:p>
          <a:p>
            <a:pPr algn="l" marL="470641" indent="-235321" lvl="1">
              <a:lnSpc>
                <a:spcPts val="2615"/>
              </a:lnSpc>
              <a:spcBef>
                <a:spcPct val="0"/>
              </a:spcBef>
              <a:buFont typeface="Arial"/>
              <a:buChar char="•"/>
            </a:pPr>
            <a:r>
              <a:rPr lang="en-US" sz="217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QR/NFC interfaces are easy to deploy but difficult for ordinary users to independently authenticate.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865317" y="2823210"/>
            <a:ext cx="3767955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Consequences if left unsolved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Phishing and credential theft.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Fraudulent payments and financial loss.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Identity/brand impersonation.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Compromised access to digital services.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Loss of trust in QR/NFC-based services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EXISTING SOLUTIONS / APPROACHES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Byte Force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41302" y="1642110"/>
            <a:ext cx="18274345" cy="811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750" spc="16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Built-in QR scanners</a:t>
            </a:r>
          </a:p>
          <a:p>
            <a:pPr algn="l">
              <a:lnSpc>
                <a:spcPts val="2100"/>
              </a:lnSpc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Examples: Apple Camera / Code Scanner, Google Lens</a:t>
            </a:r>
          </a:p>
          <a:p>
            <a:pPr algn="l" marL="377937" indent="-188969" lvl="1">
              <a:lnSpc>
                <a:spcPts val="2100"/>
              </a:lnSpc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Quickly decode QR codes and show the destination.</a:t>
            </a:r>
          </a:p>
          <a:p>
            <a:pPr algn="l" marL="377937" indent="-188969" lvl="1">
              <a:lnSpc>
                <a:spcPts val="2100"/>
              </a:lnSpc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Limitation: They primarily help the user access the encoded content; they don't establish whether the physical QR interface has been replaced or overlaid. Apple, for example, documents QR scanning as opening the detected link. </a:t>
            </a:r>
          </a:p>
          <a:p>
            <a:pPr algn="l">
              <a:lnSpc>
                <a:spcPts val="2100"/>
              </a:lnSpc>
            </a:pPr>
            <a:r>
              <a:rPr lang="en-US" sz="1750" spc="16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URL &amp; browser security</a:t>
            </a:r>
          </a:p>
          <a:p>
            <a:pPr algn="l">
              <a:lnSpc>
                <a:spcPts val="2100"/>
              </a:lnSpc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Examples: Google Safe Browsing, browser phishing/malware protection</a:t>
            </a:r>
          </a:p>
          <a:p>
            <a:pPr algn="l" marL="377937" indent="-188969" lvl="1">
              <a:lnSpc>
                <a:spcPts val="2100"/>
              </a:lnSpc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Checks websites and URLs against known threats.</a:t>
            </a:r>
          </a:p>
          <a:p>
            <a:pPr algn="l" marL="377937" indent="-188969" lvl="1">
              <a:lnSpc>
                <a:spcPts val="2100"/>
              </a:lnSpc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Limitation: Focuses on the digital destination, not the physical object that led the user there.</a:t>
            </a:r>
          </a:p>
          <a:p>
            <a:pPr algn="l" marL="377937" indent="-188969" lvl="1">
              <a:lnSpc>
                <a:spcPts val="2100"/>
              </a:lnSpc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newly created or previously unknown malicious destination may also lack sufficient reputation data.</a:t>
            </a:r>
          </a:p>
          <a:p>
            <a:pPr algn="l">
              <a:lnSpc>
                <a:spcPts val="2100"/>
              </a:lnSpc>
            </a:pPr>
            <a:r>
              <a:rPr lang="en-US" sz="1750" spc="16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Threat-intelligence platforms</a:t>
            </a:r>
          </a:p>
          <a:p>
            <a:pPr algn="l">
              <a:lnSpc>
                <a:spcPts val="2100"/>
              </a:lnSpc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 VirusTotal</a:t>
            </a:r>
          </a:p>
          <a:p>
            <a:pPr algn="l" marL="377937" indent="-188969" lvl="1">
              <a:lnSpc>
                <a:spcPts val="2100"/>
              </a:lnSpc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real URL/domain reputation and security analysis through its API. VirusTotal's API supports URL scanning, URL reports and domain reports. </a:t>
            </a:r>
          </a:p>
          <a:p>
            <a:pPr algn="l" marL="377937" indent="-188969" lvl="1">
              <a:lnSpc>
                <a:spcPts val="2100"/>
              </a:lnSpc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Limitation: Strong at digital threat intelligence, but does not by itself answer whether the QR/NFC interface physically present in front of the user is the legitimate one.</a:t>
            </a:r>
          </a:p>
          <a:p>
            <a:pPr algn="l">
              <a:lnSpc>
                <a:spcPts val="2100"/>
              </a:lnSpc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Organizational QR/NFC management</a:t>
            </a:r>
          </a:p>
          <a:p>
            <a:pPr algn="l" marL="377937" indent="-188969" lvl="1">
              <a:lnSpc>
                <a:spcPts val="2100"/>
              </a:lnSpc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Organizations can register and manage their own QR/NFC interfaces.</a:t>
            </a:r>
          </a:p>
          <a:p>
            <a:pPr algn="l" marL="377937" indent="-188969" lvl="1">
              <a:lnSpc>
                <a:spcPts val="2100"/>
              </a:lnSpc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Limitation: Usually focuses on managing the digital resource, while real-time physical tampering, visual changes and contextual verification remain difficult for the end user.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750" spc="1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GAP THE</a:t>
            </a:r>
            <a:r>
              <a:rPr lang="en-US" b="true" sz="1750" spc="1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 LEAVE OPEN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solutions protect the digital destination, but the physical-to-digital boundary remains largely unverified.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user can potentially know: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“This URL doesn't appear malicious.”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But still not know: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“Is this the legitimate QR/NFC interface that was supposed to be here?”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750" spc="1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is where TrustLens fits: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 authenticity</a:t>
            </a:r>
          </a:p>
          <a:p>
            <a:pPr algn="l" marL="377937" indent="-188969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 threat intelligence</a:t>
            </a:r>
          </a:p>
          <a:p>
            <a:pPr algn="l" marL="377937" indent="-188969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Context/location</a:t>
            </a:r>
          </a:p>
          <a:p>
            <a:pPr algn="l" marL="377937" indent="-188969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750" spc="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 identity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INSIGHTS &amp; OPPORTUNITY AREAS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Byte Force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Resources required to solve the problem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98112" y="2740838"/>
            <a:ext cx="12604663" cy="701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9309" indent="-179655" lvl="1">
              <a:lnSpc>
                <a:spcPts val="2382"/>
              </a:lnSpc>
              <a:buFont typeface="Arial"/>
              <a:buChar char="•"/>
            </a:pPr>
            <a:r>
              <a:rPr lang="en-US" sz="1985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 Requirements:</a:t>
            </a:r>
          </a:p>
          <a:p>
            <a:pPr algn="l">
              <a:lnSpc>
                <a:spcPts val="1723"/>
              </a:lnSpc>
            </a:pPr>
            <a:r>
              <a:rPr lang="en-US" sz="1436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Android smartphone with camera and NFC capability for the primary prototype.</a:t>
            </a:r>
          </a:p>
          <a:p>
            <a:pPr algn="l">
              <a:lnSpc>
                <a:spcPts val="1916"/>
              </a:lnSpc>
            </a:pPr>
            <a:r>
              <a:rPr lang="en-US" sz="1597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 QR/NFC test interfaces for controlled testing.</a:t>
            </a:r>
          </a:p>
          <a:p>
            <a:pPr algn="l">
              <a:lnSpc>
                <a:spcPts val="1916"/>
              </a:lnSpc>
            </a:pPr>
            <a:r>
              <a:rPr lang="en-US" sz="1597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Laptop/PC for backend development and model/API integration.</a:t>
            </a:r>
          </a:p>
          <a:p>
            <a:pPr algn="l">
              <a:lnSpc>
                <a:spcPts val="1916"/>
              </a:lnSpc>
            </a:pPr>
            <a:r>
              <a:rPr lang="en-US" sz="1597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Internet connectivity for threat-intelligence and cloud APIs.</a:t>
            </a:r>
          </a:p>
          <a:p>
            <a:pPr algn="l" marL="359309" indent="-179655" lvl="1">
              <a:lnSpc>
                <a:spcPts val="2382"/>
              </a:lnSpc>
              <a:buFont typeface="Arial"/>
              <a:buChar char="•"/>
            </a:pPr>
            <a:r>
              <a:rPr lang="en-US" sz="1985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Requirements:</a:t>
            </a:r>
          </a:p>
          <a:p>
            <a:pPr algn="l">
              <a:lnSpc>
                <a:spcPts val="1916"/>
              </a:lnSpc>
            </a:pPr>
            <a:r>
              <a:rPr lang="en-US" sz="1597" b="true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Mobile/Interface:</a:t>
            </a:r>
          </a:p>
          <a:p>
            <a:pPr algn="l">
              <a:lnSpc>
                <a:spcPts val="1837"/>
              </a:lnSpc>
            </a:pPr>
            <a:r>
              <a:rPr lang="en-US" sz="1531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Android Studio + Kotlin.</a:t>
            </a:r>
          </a:p>
          <a:p>
            <a:pPr algn="l">
              <a:lnSpc>
                <a:spcPts val="1837"/>
              </a:lnSpc>
            </a:pPr>
            <a:r>
              <a:rPr lang="en-US" sz="1531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Android CameraX for camera capture.</a:t>
            </a:r>
          </a:p>
          <a:p>
            <a:pPr algn="l">
              <a:lnSpc>
                <a:spcPts val="1837"/>
              </a:lnSpc>
            </a:pPr>
            <a:r>
              <a:rPr lang="en-US" sz="1531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ML Kit Barcode Scanning for QR detection.</a:t>
            </a:r>
          </a:p>
          <a:p>
            <a:pPr algn="l">
              <a:lnSpc>
                <a:spcPts val="1837"/>
              </a:lnSpc>
            </a:pPr>
            <a:r>
              <a:rPr lang="en-US" sz="1531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Android NFC APIs for NFC reading.</a:t>
            </a:r>
          </a:p>
          <a:p>
            <a:pPr algn="l">
              <a:lnSpc>
                <a:spcPts val="1934"/>
              </a:lnSpc>
            </a:pPr>
            <a:r>
              <a:rPr lang="en-US" sz="1612" b="true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&amp; Analysis:</a:t>
            </a:r>
          </a:p>
          <a:p>
            <a:pPr algn="l">
              <a:lnSpc>
                <a:spcPts val="1934"/>
              </a:lnSpc>
            </a:pPr>
            <a:r>
              <a:rPr lang="en-US" sz="1612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VirusTotal API for URL/domain threat intelligence.</a:t>
            </a:r>
          </a:p>
          <a:p>
            <a:pPr algn="l">
              <a:lnSpc>
                <a:spcPts val="1934"/>
              </a:lnSpc>
            </a:pPr>
            <a:r>
              <a:rPr lang="en-US" sz="1612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OpenCV for physical-interface image comparison and visual anomaly detection.</a:t>
            </a:r>
          </a:p>
          <a:p>
            <a:pPr algn="l">
              <a:lnSpc>
                <a:spcPts val="1934"/>
              </a:lnSpc>
            </a:pPr>
            <a:r>
              <a:rPr lang="en-US" sz="1612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RDAP/DNS services for domain and infrastructure analysis.</a:t>
            </a:r>
          </a:p>
          <a:p>
            <a:pPr algn="l">
              <a:lnSpc>
                <a:spcPts val="1934"/>
              </a:lnSpc>
            </a:pPr>
            <a:r>
              <a:rPr lang="en-US" sz="1612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OpenStreetMap/Nomination for location/context information.</a:t>
            </a:r>
          </a:p>
          <a:p>
            <a:pPr algn="l">
              <a:lnSpc>
                <a:spcPts val="1934"/>
              </a:lnSpc>
            </a:pPr>
            <a:r>
              <a:rPr lang="en-US" sz="1612" b="true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Backend:</a:t>
            </a:r>
          </a:p>
          <a:p>
            <a:pPr algn="l">
              <a:lnSpc>
                <a:spcPts val="1934"/>
              </a:lnSpc>
            </a:pPr>
            <a:r>
              <a:rPr lang="en-US" sz="1612" b="true">
                <a:solidFill>
                  <a:srgbClr val="0E2A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sz="1612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ython + FastAPI.</a:t>
            </a:r>
          </a:p>
          <a:p>
            <a:pPr algn="l">
              <a:lnSpc>
                <a:spcPts val="1934"/>
              </a:lnSpc>
            </a:pPr>
            <a:r>
              <a:rPr lang="en-US" sz="1612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for registered interfaces,reference data and scan history.</a:t>
            </a:r>
          </a:p>
          <a:p>
            <a:pPr algn="l">
              <a:lnSpc>
                <a:spcPts val="1934"/>
              </a:lnSpc>
            </a:pPr>
            <a:r>
              <a:rPr lang="en-US" sz="1612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Cloud hosting/API infrastructure.</a:t>
            </a:r>
          </a:p>
          <a:p>
            <a:pPr algn="l">
              <a:lnSpc>
                <a:spcPts val="1934"/>
              </a:lnSpc>
            </a:pPr>
            <a:r>
              <a:rPr lang="en-US" sz="1612" b="true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AI:</a:t>
            </a:r>
            <a:r>
              <a:rPr lang="en-US" sz="1612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 real LLM/Vision API for interpreting the collected evidence and generating an explainable security assessment_not for inventing threat data.</a:t>
            </a:r>
          </a:p>
          <a:p>
            <a:pPr algn="l" marL="324722" indent="-162361" lvl="1">
              <a:lnSpc>
                <a:spcPts val="2153"/>
              </a:lnSpc>
              <a:buFont typeface="Arial"/>
              <a:buChar char="•"/>
            </a:pPr>
            <a:r>
              <a:rPr lang="en-US" sz="1794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Other resources (Including Human Resources):</a:t>
            </a:r>
          </a:p>
          <a:p>
            <a:pPr algn="l">
              <a:lnSpc>
                <a:spcPts val="1923"/>
              </a:lnSpc>
            </a:pPr>
            <a:r>
              <a:rPr lang="en-US" sz="1603">
                <a:solidFill>
                  <a:srgbClr val="026855"/>
                </a:solidFill>
                <a:latin typeface="Calibri (MS)"/>
                <a:ea typeface="Calibri (MS)"/>
                <a:cs typeface="Calibri (MS)"/>
                <a:sym typeface="Calibri (MS)"/>
              </a:rPr>
              <a:t>Mobile developer:</a:t>
            </a:r>
            <a:r>
              <a:rPr lang="en-US" sz="1603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camera,QR and NFC integration.</a:t>
            </a:r>
          </a:p>
          <a:p>
            <a:pPr algn="l">
              <a:lnSpc>
                <a:spcPts val="1923"/>
              </a:lnSpc>
            </a:pPr>
            <a:r>
              <a:rPr lang="en-US" sz="1603">
                <a:solidFill>
                  <a:srgbClr val="026855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developer:</a:t>
            </a:r>
            <a:r>
              <a:rPr lang="en-US" sz="1603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APIs,database and security pipeline.</a:t>
            </a:r>
          </a:p>
          <a:p>
            <a:pPr algn="l">
              <a:lnSpc>
                <a:spcPts val="1923"/>
              </a:lnSpc>
            </a:pPr>
            <a:r>
              <a:rPr lang="en-US" sz="1603">
                <a:solidFill>
                  <a:srgbClr val="026855"/>
                </a:solidFill>
                <a:latin typeface="Calibri (MS)"/>
                <a:ea typeface="Calibri (MS)"/>
                <a:cs typeface="Calibri (MS)"/>
                <a:sym typeface="Calibri (MS)"/>
              </a:rPr>
              <a:t>AI/ML developer:</a:t>
            </a:r>
            <a:r>
              <a:rPr lang="en-US" sz="1603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comparison and evidence-based AI reasoning.</a:t>
            </a:r>
          </a:p>
          <a:p>
            <a:pPr algn="l">
              <a:lnSpc>
                <a:spcPts val="1923"/>
              </a:lnSpc>
            </a:pPr>
            <a:r>
              <a:rPr lang="en-US" sz="1603">
                <a:solidFill>
                  <a:srgbClr val="026855"/>
                </a:solidFill>
                <a:latin typeface="Calibri (MS)"/>
                <a:ea typeface="Calibri (MS)"/>
                <a:cs typeface="Calibri (MS)"/>
                <a:sym typeface="Calibri (MS)"/>
              </a:rPr>
              <a:t>Cybersecurity expertise:</a:t>
            </a:r>
            <a:r>
              <a:rPr lang="en-US" sz="1603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threat analysis,URL/domain checks and security validation.</a:t>
            </a:r>
          </a:p>
          <a:p>
            <a:pPr algn="l">
              <a:lnSpc>
                <a:spcPts val="1923"/>
              </a:lnSpc>
            </a:pPr>
            <a:r>
              <a:rPr lang="en-US" sz="1603">
                <a:solidFill>
                  <a:srgbClr val="026855"/>
                </a:solidFill>
                <a:latin typeface="Calibri (MS)"/>
                <a:ea typeface="Calibri (MS)"/>
                <a:cs typeface="Calibri (MS)"/>
                <a:sym typeface="Calibri (MS)"/>
              </a:rPr>
              <a:t>UI/UX:</a:t>
            </a:r>
            <a:r>
              <a:rPr lang="en-US" sz="1603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clear risk explanations and user warnings.</a:t>
            </a:r>
          </a:p>
          <a:p>
            <a:pPr algn="l">
              <a:lnSpc>
                <a:spcPts val="1923"/>
              </a:lnSpc>
            </a:pPr>
            <a:r>
              <a:rPr lang="en-US" sz="1603">
                <a:solidFill>
                  <a:srgbClr val="026855"/>
                </a:solidFill>
                <a:latin typeface="Calibri (MS)"/>
                <a:ea typeface="Calibri (MS)"/>
                <a:cs typeface="Calibri (MS)"/>
                <a:sym typeface="Calibri (MS)"/>
              </a:rPr>
              <a:t>Test users/real environments:</a:t>
            </a:r>
            <a:r>
              <a:rPr lang="en-US" sz="1603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campus,cafteria,parking and other physical interfaces for testing.</a:t>
            </a:r>
          </a:p>
          <a:p>
            <a:pPr algn="l">
              <a:lnSpc>
                <a:spcPts val="1809"/>
              </a:lnSpc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INITIAL DIRECTION &amp; EXPECTED OUTCOME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Byte Force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Your Expected Outcome?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0" y="2731313"/>
            <a:ext cx="5408442" cy="680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26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our team intends to do</a:t>
            </a:r>
          </a:p>
          <a:p>
            <a:pPr algn="l" marL="564627" indent="-282314" lvl="1">
              <a:lnSpc>
                <a:spcPts val="3138"/>
              </a:lnSpc>
              <a:buFont typeface="Arial"/>
              <a:buChar char="•"/>
            </a:pPr>
            <a:r>
              <a:rPr lang="en-US" sz="26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TrustLens, an AI-assisted physical-to-digital security system for verifying QR and NFC interfaces before user interaction.</a:t>
            </a:r>
          </a:p>
          <a:p>
            <a:pPr algn="l" marL="564627" indent="-282314" lvl="1">
              <a:lnSpc>
                <a:spcPts val="3138"/>
              </a:lnSpc>
              <a:buFont typeface="Arial"/>
              <a:buChar char="•"/>
            </a:pPr>
            <a:r>
              <a:rPr lang="en-US" sz="26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Build a working smartphone-based prototype that combines:</a:t>
            </a:r>
          </a:p>
          <a:p>
            <a:pPr algn="l" marL="564627" indent="-282314" lvl="1">
              <a:lnSpc>
                <a:spcPts val="3138"/>
              </a:lnSpc>
              <a:buAutoNum type="arabicPeriod" startAt="1"/>
            </a:pPr>
            <a:r>
              <a:rPr lang="en-US" sz="26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QR/NFC identification</a:t>
            </a:r>
          </a:p>
          <a:p>
            <a:pPr algn="l" marL="564627" indent="-282314" lvl="1">
              <a:lnSpc>
                <a:spcPts val="3138"/>
              </a:lnSpc>
              <a:buAutoNum type="arabicPeriod" startAt="1"/>
            </a:pPr>
            <a:r>
              <a:rPr lang="en-US" sz="26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URL and domain threat intelligence</a:t>
            </a:r>
          </a:p>
          <a:p>
            <a:pPr algn="l" marL="564627" indent="-282314" lvl="1">
              <a:lnSpc>
                <a:spcPts val="3138"/>
              </a:lnSpc>
              <a:buAutoNum type="arabicPeriod" startAt="1"/>
            </a:pPr>
            <a:r>
              <a:rPr lang="en-US" sz="26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 interface / visual-change analysis</a:t>
            </a:r>
          </a:p>
          <a:p>
            <a:pPr algn="l" marL="564627" indent="-282314" lvl="1">
              <a:lnSpc>
                <a:spcPts val="3138"/>
              </a:lnSpc>
              <a:buAutoNum type="arabicPeriod" startAt="1"/>
            </a:pPr>
            <a:r>
              <a:rPr lang="en-US" sz="26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Location and contextual verification</a:t>
            </a:r>
          </a:p>
          <a:p>
            <a:pPr algn="l" marL="564627" indent="-282314" lvl="1">
              <a:lnSpc>
                <a:spcPts val="3138"/>
              </a:lnSpc>
              <a:buAutoNum type="arabicPeriod" startAt="1"/>
            </a:pPr>
            <a:r>
              <a:rPr lang="en-US" sz="26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 identity comparison</a:t>
            </a:r>
          </a:p>
          <a:p>
            <a:pPr algn="l" marL="564627" indent="-282314" lvl="1">
              <a:lnSpc>
                <a:spcPts val="3138"/>
              </a:lnSpc>
              <a:buFont typeface="Arial"/>
              <a:buChar char="•"/>
            </a:pPr>
            <a:r>
              <a:rPr lang="en-US" sz="26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 users with an explainable risk assessment instead of simply opening the detected destination.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9475470"/>
            <a:ext cx="540844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Your paragraph text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540000" y="2823210"/>
            <a:ext cx="4543248" cy="643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2"/>
              </a:lnSpc>
            </a:pPr>
            <a:r>
              <a:rPr lang="en-US" sz="267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we want to improve</a:t>
            </a:r>
          </a:p>
          <a:p>
            <a:pPr algn="l" marL="577978" indent="-288989" lvl="1">
              <a:lnSpc>
                <a:spcPts val="3212"/>
              </a:lnSpc>
              <a:buFont typeface="Arial"/>
              <a:buChar char="•"/>
            </a:pPr>
            <a:r>
              <a:rPr lang="en-US" sz="267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Move security from after-the-click detection to before-interaction verification.</a:t>
            </a:r>
          </a:p>
          <a:p>
            <a:pPr algn="l" marL="577978" indent="-288989" lvl="1">
              <a:lnSpc>
                <a:spcPts val="3212"/>
              </a:lnSpc>
              <a:buFont typeface="Arial"/>
              <a:buChar char="•"/>
            </a:pPr>
            <a:r>
              <a:rPr lang="en-US" sz="267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 reliance on users visually judging whether a QR/NFC interface is genuine.</a:t>
            </a:r>
          </a:p>
          <a:p>
            <a:pPr algn="l" marL="577978" indent="-288989" lvl="1">
              <a:lnSpc>
                <a:spcPts val="3212"/>
              </a:lnSpc>
              <a:buFont typeface="Arial"/>
              <a:buChar char="•"/>
            </a:pPr>
            <a:r>
              <a:rPr lang="en-US" sz="267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 physical, digital and contextual evidence instead of relying only on URL reputation.</a:t>
            </a:r>
          </a:p>
          <a:p>
            <a:pPr algn="l" marL="577978" indent="-288989" lvl="1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67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Make security warnings understandable and actionable for non-technical users.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16598" y="2823210"/>
            <a:ext cx="4761334" cy="661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successful improvement should we achieve?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working prototype that can scan a real physical QR/NFC interface, analyze its available security signals, compare it with trusted/historical information, and warn the user when significant risk or inconsistency is detected.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Low-risk / verified-legitimate interface.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Proceed with caution-uncertain interface.</a:t>
            </a:r>
          </a:p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Warn before interaction-suspicious interface.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TEAM CONTRIBUTION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Byte Force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will handle which part of the execution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822960" y="3291840"/>
          <a:ext cx="16611600" cy="5162550"/>
        </p:xfrm>
        <a:graphic>
          <a:graphicData uri="http://schemas.openxmlformats.org/drawingml/2006/table">
            <a:tbl>
              <a:tblPr/>
              <a:tblGrid>
                <a:gridCol w="4523337"/>
                <a:gridCol w="3842282"/>
                <a:gridCol w="8245981"/>
              </a:tblGrid>
              <a:tr h="8209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Team Member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Responsibility in Execution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</a:tr>
              <a:tr h="10854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Member 1 name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What they will handle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4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Member 2 name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What they will handle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4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Member 3 name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What they will handle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4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Member 4 name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What they will handle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DAHXbkSWD2c</dc:identifier>
  <dcterms:modified xsi:type="dcterms:W3CDTF">2011-08-01T06:04:30Z</dcterms:modified>
  <cp:revision>1</cp:revision>
  <dc:title>Byte Force genesis</dc:title>
</cp:coreProperties>
</file>